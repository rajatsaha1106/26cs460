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56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360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rdcu.be/fBYLC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7D6504-D71B-EB04-6219-40F4050FEBA1}"/>
              </a:ext>
            </a:extLst>
          </p:cNvPr>
          <p:cNvSpPr txBox="1"/>
          <p:nvPr/>
        </p:nvSpPr>
        <p:spPr>
          <a:xfrm>
            <a:off x="7861168" y="939555"/>
            <a:ext cx="369530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We use the following base paper for learning the Momentum Space, as a source of Inspiration.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They have used Variational Autoencoders to learn the surface of the Bloch Vectors.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latent space is generated using VAE, which is a lower dimensional version of the momentum space.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529AA1-ACCE-F73C-67C2-9191A24EA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903" y="1544450"/>
            <a:ext cx="4583520" cy="38877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AFACF3-2F78-63B0-4129-BFF5F425287B}"/>
              </a:ext>
            </a:extLst>
          </p:cNvPr>
          <p:cNvSpPr txBox="1"/>
          <p:nvPr/>
        </p:nvSpPr>
        <p:spPr>
          <a:xfrm>
            <a:off x="8113336" y="4779389"/>
            <a:ext cx="60944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dirty="0">
                <a:solidFill>
                  <a:srgbClr val="222222"/>
                </a:solidFill>
                <a:effectLst/>
                <a:latin typeface="-apple-system"/>
              </a:rPr>
              <a:t>You can read the article here:</a:t>
            </a:r>
          </a:p>
          <a:p>
            <a:endParaRPr lang="en-IN" b="1" dirty="0">
              <a:solidFill>
                <a:srgbClr val="222222"/>
              </a:solidFill>
              <a:latin typeface="-apple-system"/>
            </a:endParaRPr>
          </a:p>
          <a:p>
            <a:r>
              <a:rPr lang="en-IN" b="1" i="0" dirty="0">
                <a:solidFill>
                  <a:srgbClr val="222222"/>
                </a:solidFill>
                <a:effectLst/>
                <a:latin typeface="-apple-system"/>
                <a:hlinkClick r:id="rId3"/>
              </a:rPr>
              <a:t>https://rdcu.be/fBYLC</a:t>
            </a:r>
            <a:endParaRPr lang="en-IN" b="1" i="0" dirty="0">
              <a:solidFill>
                <a:srgbClr val="222222"/>
              </a:solidFill>
              <a:effectLst/>
              <a:latin typeface="-apple-system"/>
            </a:endParaRPr>
          </a:p>
          <a:p>
            <a:r>
              <a:rPr lang="en-IN" b="1" dirty="0">
                <a:solidFill>
                  <a:srgbClr val="222222"/>
                </a:solidFill>
                <a:latin typeface="-apple-system"/>
              </a:rPr>
              <a:t>(Open Access on Nature)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95FF26-5621-E35C-A252-7DC5E389940F}"/>
              </a:ext>
            </a:extLst>
          </p:cNvPr>
          <p:cNvSpPr txBox="1"/>
          <p:nvPr/>
        </p:nvSpPr>
        <p:spPr>
          <a:xfrm>
            <a:off x="930373" y="5678575"/>
            <a:ext cx="69307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Motivation of the Project and Base Paper:</a:t>
            </a:r>
          </a:p>
          <a:p>
            <a:endParaRPr lang="en-IN" sz="28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87750" y="6426145"/>
            <a:ext cx="1097280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sz="1050" b="0" dirty="0">
                <a:solidFill>
                  <a:srgbClr val="37414B"/>
                </a:solidFill>
                <a:latin typeface="Aptos"/>
              </a:rPr>
              <a:t>Author: Rajat Shuvra Saha (2211083), 5</a:t>
            </a:r>
            <a:r>
              <a:rPr lang="en-IN" sz="1050" b="0" baseline="30000" dirty="0">
                <a:solidFill>
                  <a:srgbClr val="37414B"/>
                </a:solidFill>
                <a:latin typeface="Aptos"/>
              </a:rPr>
              <a:t>th</a:t>
            </a:r>
            <a:r>
              <a:rPr lang="en-IN" sz="1050" b="0" dirty="0">
                <a:solidFill>
                  <a:srgbClr val="37414B"/>
                </a:solidFill>
                <a:latin typeface="Aptos"/>
              </a:rPr>
              <a:t> Year: School of Physical Sciences . Co-Guide: kush.saha@niser</a:t>
            </a:r>
            <a:r>
              <a:rPr lang="en-IN" sz="1050" dirty="0">
                <a:solidFill>
                  <a:srgbClr val="37414B"/>
                </a:solidFill>
                <a:latin typeface="Aptos"/>
              </a:rPr>
              <a:t>.ac.in</a:t>
            </a:r>
            <a:endParaRPr sz="1050" b="0" dirty="0">
              <a:solidFill>
                <a:srgbClr val="37414B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43903" y="177939"/>
            <a:ext cx="111556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dirty="0">
                <a:solidFill>
                  <a:srgbClr val="142337"/>
                </a:solidFill>
                <a:latin typeface="Aptos"/>
              </a:rPr>
              <a:t>Physics-informed learning of quantum geometry and topology</a:t>
            </a:r>
          </a:p>
        </p:txBody>
      </p:sp>
    </p:spTree>
    <p:extLst>
      <p:ext uri="{BB962C8B-B14F-4D97-AF65-F5344CB8AC3E}">
        <p14:creationId xmlns:p14="http://schemas.microsoft.com/office/powerpoint/2010/main" val="411584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75488" y="1097280"/>
            <a:ext cx="6446520" cy="532180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271016"/>
            <a:ext cx="1600200" cy="310896"/>
          </a:xfrm>
          <a:prstGeom prst="roundRect">
            <a:avLst/>
          </a:prstGeom>
          <a:solidFill>
            <a:srgbClr val="142337"/>
          </a:solidFill>
          <a:ln w="12700">
            <a:solidFill>
              <a:srgbClr val="14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289304"/>
            <a:ext cx="1508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Aptos"/>
              </a:rPr>
              <a:t>PHYSICS 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00784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50" b="1">
                <a:solidFill>
                  <a:srgbClr val="142337"/>
                </a:solidFill>
                <a:latin typeface="Aptos"/>
              </a:rPr>
              <a:t>Local quantum geometry encodes global topology</a:t>
            </a:r>
          </a:p>
        </p:txBody>
      </p:sp>
      <p:pic>
        <p:nvPicPr>
          <p:cNvPr id="8" name="Picture 7" descr="eq_qwz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411" y="2122816"/>
            <a:ext cx="5327904" cy="622880"/>
          </a:xfrm>
          <a:prstGeom prst="rect">
            <a:avLst/>
          </a:prstGeom>
        </p:spPr>
      </p:pic>
      <p:pic>
        <p:nvPicPr>
          <p:cNvPr id="9" name="Picture 8" descr="eq_metric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808" y="2641041"/>
            <a:ext cx="5257800" cy="614685"/>
          </a:xfrm>
          <a:prstGeom prst="rect">
            <a:avLst/>
          </a:prstGeom>
        </p:spPr>
      </p:pic>
      <p:pic>
        <p:nvPicPr>
          <p:cNvPr id="10" name="Picture 9" descr="eq_berry_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7054" y="3200891"/>
            <a:ext cx="4526280" cy="529163"/>
          </a:xfrm>
          <a:prstGeom prst="rect">
            <a:avLst/>
          </a:prstGeom>
        </p:spPr>
      </p:pic>
      <p:pic>
        <p:nvPicPr>
          <p:cNvPr id="11" name="Picture 10" descr="eq_chern_cle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8378" y="3752299"/>
            <a:ext cx="3977639" cy="465022"/>
          </a:xfrm>
          <a:prstGeom prst="rect">
            <a:avLst/>
          </a:prstGeom>
        </p:spPr>
      </p:pic>
      <p:pic>
        <p:nvPicPr>
          <p:cNvPr id="12" name="Picture 11" descr="eq_z2_cle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41448" y="4093674"/>
            <a:ext cx="5840000" cy="6827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86384" y="4681728"/>
            <a:ext cx="5669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20">
                <a:solidFill>
                  <a:srgbClr val="37414B"/>
                </a:solidFill>
                <a:latin typeface="Aptos"/>
              </a:defRPr>
            </a:pPr>
            <a:r>
              <a:t>• Input: momentum-space Bloch texture / Hamiltonian samples</a:t>
            </a:r>
          </a:p>
          <a:p>
            <a:pPr>
              <a:spcAft>
                <a:spcPts val="400"/>
              </a:spcAft>
              <a:defRPr sz="1120">
                <a:solidFill>
                  <a:srgbClr val="37414B"/>
                </a:solidFill>
                <a:latin typeface="Aptos"/>
              </a:defRPr>
            </a:pPr>
            <a:r>
              <a:t>• Targets: quantum metric and Berry-curvature maps</a:t>
            </a:r>
          </a:p>
          <a:p>
            <a:pPr>
              <a:spcAft>
                <a:spcPts val="400"/>
              </a:spcAft>
              <a:defRPr sz="1120">
                <a:solidFill>
                  <a:srgbClr val="37414B"/>
                </a:solidFill>
                <a:latin typeface="Aptos"/>
              </a:defRPr>
            </a:pPr>
            <a:r>
              <a:t>• Constraint: integrated curvature must reproduce the topological sector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50608" y="1097280"/>
            <a:ext cx="4553712" cy="5321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172450" y="1261872"/>
            <a:ext cx="1783080" cy="310896"/>
          </a:xfrm>
          <a:prstGeom prst="roundRect">
            <a:avLst/>
          </a:prstGeom>
          <a:solidFill>
            <a:srgbClr val="142337"/>
          </a:solidFill>
          <a:ln w="12700">
            <a:solidFill>
              <a:srgbClr val="14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8180" y="1261872"/>
            <a:ext cx="1691639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Aptos"/>
              </a:rPr>
              <a:t>GEOMETRIC 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88352" y="1700784"/>
            <a:ext cx="3886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337"/>
                </a:solidFill>
                <a:latin typeface="Aptos"/>
              </a:rPr>
              <a:t>From local maps to an integer invariant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61504" y="4956048"/>
            <a:ext cx="3886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80" b="0" dirty="0">
                <a:solidFill>
                  <a:srgbClr val="37414B"/>
                </a:solidFill>
                <a:latin typeface="Aptos"/>
              </a:rPr>
              <a:t>Berry curvature varies continuously over k-space; the Chern number is the quantized Brillouin-zone integral.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5742432"/>
            <a:ext cx="3246120" cy="41148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82127" y="5797296"/>
            <a:ext cx="312724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D69AA"/>
                </a:solidFill>
                <a:latin typeface="Aptos"/>
              </a:rPr>
              <a:t>QGT  →  response  →  topology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6565392"/>
            <a:ext cx="11064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 dirty="0">
                <a:solidFill>
                  <a:srgbClr val="78828C"/>
                </a:solidFill>
                <a:latin typeface="Aptos"/>
              </a:rPr>
              <a:t>Physics-informed ML proposal  |  Quantum geometry  |  Topological materials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9D5DF16-F166-39DB-B980-2521336547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92421" y="2293048"/>
            <a:ext cx="3024685" cy="265595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47009" y="321549"/>
            <a:ext cx="1115568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dirty="0">
                <a:solidFill>
                  <a:srgbClr val="142337"/>
                </a:solidFill>
                <a:latin typeface="Aptos"/>
              </a:rPr>
              <a:t>Proposed ML architecture: </a:t>
            </a:r>
            <a:r>
              <a:rPr lang="en-IN" sz="2600" b="1" dirty="0">
                <a:solidFill>
                  <a:srgbClr val="142337"/>
                </a:solidFill>
                <a:latin typeface="Aptos"/>
              </a:rPr>
              <a:t>Physics</a:t>
            </a:r>
            <a:r>
              <a:rPr sz="2600" b="1" dirty="0">
                <a:solidFill>
                  <a:srgbClr val="142337"/>
                </a:solidFill>
                <a:latin typeface="Aptos"/>
              </a:rPr>
              <a:t>-informed U-Net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26179" y="89290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>
                <a:solidFill>
                  <a:srgbClr val="37414B"/>
                </a:solidFill>
                <a:latin typeface="Aptos"/>
              </a:rPr>
              <a:t>Dense k-space prediction + global topological constraints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78992"/>
            <a:ext cx="1234440" cy="310896"/>
          </a:xfrm>
          <a:prstGeom prst="roundRect">
            <a:avLst/>
          </a:prstGeom>
          <a:solidFill>
            <a:srgbClr val="142337"/>
          </a:solidFill>
          <a:ln w="12700">
            <a:solidFill>
              <a:srgbClr val="14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43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Aptos"/>
              </a:rPr>
              <a:t>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1874519" cy="74980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1664208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20" b="1">
                <a:solidFill>
                  <a:srgbClr val="142337"/>
                </a:solidFill>
                <a:latin typeface="Aptos"/>
              </a:rPr>
              <a:t>Hamiltonian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938528"/>
            <a:ext cx="17647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19" b="0">
                <a:solidFill>
                  <a:srgbClr val="37414B"/>
                </a:solidFill>
                <a:latin typeface="Aptos"/>
              </a:rPr>
              <a:t>H(k)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41448" y="1929384"/>
            <a:ext cx="274320" cy="0"/>
          </a:xfrm>
          <a:prstGeom prst="line">
            <a:avLst/>
          </a:prstGeom>
          <a:ln w="25400">
            <a:solidFill>
              <a:srgbClr val="2D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88920" y="1554480"/>
            <a:ext cx="1874519" cy="74980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43784" y="1664208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20" b="1">
                <a:solidFill>
                  <a:srgbClr val="142337"/>
                </a:solidFill>
                <a:latin typeface="Aptos"/>
              </a:rPr>
              <a:t>Bloch texture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43784" y="1938528"/>
            <a:ext cx="17647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19" b="0">
                <a:solidFill>
                  <a:srgbClr val="37414B"/>
                </a:solidFill>
                <a:latin typeface="Aptos"/>
              </a:rPr>
              <a:t>d(k) / P(k)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663440" y="1929384"/>
            <a:ext cx="274320" cy="0"/>
          </a:xfrm>
          <a:prstGeom prst="line">
            <a:avLst/>
          </a:prstGeom>
          <a:ln w="25400">
            <a:solidFill>
              <a:srgbClr val="2D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010912" y="1554480"/>
            <a:ext cx="1874519" cy="74980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65776" y="1664208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20" b="1">
                <a:solidFill>
                  <a:srgbClr val="142337"/>
                </a:solidFill>
                <a:latin typeface="Aptos"/>
              </a:rPr>
              <a:t>U-Net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65776" y="1938528"/>
            <a:ext cx="17647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19" b="0">
                <a:solidFill>
                  <a:srgbClr val="37414B"/>
                </a:solidFill>
                <a:latin typeface="Aptos"/>
              </a:rPr>
              <a:t>dense prediction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85432" y="1929384"/>
            <a:ext cx="274320" cy="0"/>
          </a:xfrm>
          <a:prstGeom prst="line">
            <a:avLst/>
          </a:prstGeom>
          <a:ln w="25400">
            <a:solidFill>
              <a:srgbClr val="2D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232904" y="1554480"/>
            <a:ext cx="1874519" cy="74980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87768" y="1664208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20" b="1">
                <a:solidFill>
                  <a:srgbClr val="142337"/>
                </a:solidFill>
                <a:latin typeface="Aptos"/>
              </a:rPr>
              <a:t>QGT heads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7768" y="1938528"/>
            <a:ext cx="17647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19" b="0">
                <a:solidFill>
                  <a:srgbClr val="37414B"/>
                </a:solidFill>
                <a:latin typeface="Aptos"/>
              </a:rPr>
              <a:t>gxx, gxy, gyy, Ω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07424" y="1929384"/>
            <a:ext cx="274320" cy="0"/>
          </a:xfrm>
          <a:prstGeom prst="line">
            <a:avLst/>
          </a:prstGeom>
          <a:ln w="25400">
            <a:solidFill>
              <a:srgbClr val="2D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454896" y="1554480"/>
            <a:ext cx="1874519" cy="74980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509760" y="1664208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20" b="1">
                <a:solidFill>
                  <a:srgbClr val="142337"/>
                </a:solidFill>
                <a:latin typeface="Aptos"/>
              </a:rPr>
              <a:t>Topology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1938528"/>
            <a:ext cx="17647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19" b="0">
                <a:solidFill>
                  <a:srgbClr val="37414B"/>
                </a:solidFill>
                <a:latin typeface="Aptos"/>
              </a:rPr>
              <a:t>C, Z₂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6824" y="3063241"/>
            <a:ext cx="5577840" cy="2980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6" name="Rounded Rectangle 25"/>
          <p:cNvSpPr/>
          <p:nvPr/>
        </p:nvSpPr>
        <p:spPr>
          <a:xfrm>
            <a:off x="2384447" y="3273552"/>
            <a:ext cx="1417320" cy="310896"/>
          </a:xfrm>
          <a:prstGeom prst="roundRect">
            <a:avLst/>
          </a:prstGeom>
          <a:solidFill>
            <a:srgbClr val="142337"/>
          </a:solidFill>
          <a:ln w="12700">
            <a:solidFill>
              <a:srgbClr val="14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406458" y="3300984"/>
            <a:ext cx="1325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Aptos"/>
              </a:rPr>
              <a:t>U-NET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2000" y="4105656"/>
            <a:ext cx="932688" cy="621792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0288" y="4197096"/>
            <a:ext cx="89611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10" b="1">
                <a:solidFill>
                  <a:srgbClr val="142337"/>
                </a:solidFill>
                <a:latin typeface="Aptos"/>
              </a:rPr>
              <a:t>Input
C×N×N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822704" y="4105656"/>
            <a:ext cx="969264" cy="621792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840992" y="4197096"/>
            <a:ext cx="9326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10" b="1">
                <a:solidFill>
                  <a:srgbClr val="142337"/>
                </a:solidFill>
                <a:latin typeface="Aptos"/>
              </a:rPr>
              <a:t>Encoder
features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919984" y="4105656"/>
            <a:ext cx="987552" cy="621792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938272" y="4197096"/>
            <a:ext cx="950976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10" b="1">
                <a:solidFill>
                  <a:srgbClr val="142337"/>
                </a:solidFill>
                <a:latin typeface="Aptos"/>
              </a:rPr>
              <a:t>Bottleneck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35552" y="4105656"/>
            <a:ext cx="969264" cy="621792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053839" y="4197096"/>
            <a:ext cx="9326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10" b="1">
                <a:solidFill>
                  <a:srgbClr val="142337"/>
                </a:solidFill>
                <a:latin typeface="Aptos"/>
              </a:rPr>
              <a:t>Decoder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132832" y="4105656"/>
            <a:ext cx="676656" cy="621792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151120" y="4197096"/>
            <a:ext cx="6400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10" b="1">
                <a:solidFill>
                  <a:srgbClr val="142337"/>
                </a:solidFill>
                <a:latin typeface="Aptos"/>
              </a:rPr>
              <a:t>QGT
maps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694688" y="4416553"/>
            <a:ext cx="128016" cy="0"/>
          </a:xfrm>
          <a:prstGeom prst="line">
            <a:avLst/>
          </a:prstGeom>
          <a:ln w="25400">
            <a:solidFill>
              <a:srgbClr val="2D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791968" y="4416553"/>
            <a:ext cx="128016" cy="0"/>
          </a:xfrm>
          <a:prstGeom prst="line">
            <a:avLst/>
          </a:prstGeom>
          <a:ln w="25400">
            <a:solidFill>
              <a:srgbClr val="2D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07536" y="4416553"/>
            <a:ext cx="128016" cy="0"/>
          </a:xfrm>
          <a:prstGeom prst="line">
            <a:avLst/>
          </a:prstGeom>
          <a:ln w="25400">
            <a:solidFill>
              <a:srgbClr val="2D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004816" y="4416553"/>
            <a:ext cx="128016" cy="0"/>
          </a:xfrm>
          <a:prstGeom prst="line">
            <a:avLst/>
          </a:prstGeom>
          <a:ln w="25400">
            <a:solidFill>
              <a:srgbClr val="2D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219200" y="3739897"/>
            <a:ext cx="3392424" cy="0"/>
          </a:xfrm>
          <a:prstGeom prst="bentConnector3">
            <a:avLst/>
          </a:prstGeom>
          <a:ln w="16510">
            <a:solidFill>
              <a:srgbClr val="2896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219200" y="5111497"/>
            <a:ext cx="3392424" cy="0"/>
          </a:xfrm>
          <a:prstGeom prst="bentConnector3">
            <a:avLst/>
          </a:prstGeom>
          <a:ln w="16510">
            <a:solidFill>
              <a:srgbClr val="2896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67185" y="5276090"/>
            <a:ext cx="48463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30" b="0">
                <a:solidFill>
                  <a:srgbClr val="37414B"/>
                </a:solidFill>
                <a:latin typeface="Aptos"/>
              </a:rPr>
              <a:t>Skip connections retain localized k-space structure and symmetry features.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70474" y="2771294"/>
            <a:ext cx="5367528" cy="3456432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8037575" y="2901854"/>
            <a:ext cx="1508760" cy="310896"/>
          </a:xfrm>
          <a:prstGeom prst="roundRect">
            <a:avLst/>
          </a:prstGeom>
          <a:solidFill>
            <a:srgbClr val="142337"/>
          </a:solidFill>
          <a:ln w="12700">
            <a:solidFill>
              <a:srgbClr val="14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083296" y="2929285"/>
            <a:ext cx="1417319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19" b="1" dirty="0">
                <a:solidFill>
                  <a:srgbClr val="FFFFFF"/>
                </a:solidFill>
                <a:latin typeface="Aptos"/>
              </a:rPr>
              <a:t>PHYSICS LOSS</a:t>
            </a:r>
          </a:p>
        </p:txBody>
      </p:sp>
      <p:pic>
        <p:nvPicPr>
          <p:cNvPr id="48" name="Picture 47" descr="eq_loss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246" y="3340766"/>
            <a:ext cx="5871739" cy="68646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6620255" y="4145438"/>
            <a:ext cx="4736592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80">
                <a:solidFill>
                  <a:srgbClr val="37414B"/>
                </a:solidFill>
                <a:latin typeface="Aptos"/>
              </a:defRPr>
            </a:pPr>
            <a:r>
              <a:t>• Supervised geometry: metric + Berry curvature</a:t>
            </a:r>
          </a:p>
          <a:p>
            <a:pPr>
              <a:spcAft>
                <a:spcPts val="400"/>
              </a:spcAft>
              <a:defRPr sz="1080">
                <a:solidFill>
                  <a:srgbClr val="37414B"/>
                </a:solidFill>
                <a:latin typeface="Aptos"/>
              </a:defRPr>
            </a:pPr>
            <a:r>
              <a:t>• Global topology: integrated Chern loss</a:t>
            </a:r>
          </a:p>
          <a:p>
            <a:pPr>
              <a:spcAft>
                <a:spcPts val="400"/>
              </a:spcAft>
              <a:defRPr sz="1080">
                <a:solidFill>
                  <a:srgbClr val="37414B"/>
                </a:solidFill>
                <a:latin typeface="Aptos"/>
              </a:defRPr>
            </a:pPr>
            <a:r>
              <a:t>• Symmetry: time-reversal / spin-sector consistency</a:t>
            </a:r>
          </a:p>
          <a:p>
            <a:pPr>
              <a:spcAft>
                <a:spcPts val="400"/>
              </a:spcAft>
              <a:defRPr sz="1080">
                <a:solidFill>
                  <a:srgbClr val="37414B"/>
                </a:solidFill>
                <a:latin typeface="Aptos"/>
              </a:defRPr>
            </a:pPr>
            <a:r>
              <a:t>• Two-level identity: det(g) = Ω² / 4 when applicable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620255" y="5626766"/>
            <a:ext cx="46634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684263" y="5672486"/>
            <a:ext cx="4535424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30" b="1">
                <a:solidFill>
                  <a:srgbClr val="2D69AA"/>
                </a:solidFill>
                <a:latin typeface="Aptos"/>
              </a:rPr>
              <a:t>Train  →  validation  →  unseen-Hamiltonian test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0352" y="6565392"/>
            <a:ext cx="11064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78828C"/>
                </a:solidFill>
                <a:latin typeface="Aptos"/>
              </a:rPr>
              <a:t>Physics-informed ML proposal  |  Quantum geometry  |  Topological materials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12DE1B0-E970-B5D8-20CF-A27A0EFAE161}"/>
              </a:ext>
            </a:extLst>
          </p:cNvPr>
          <p:cNvSpPr txBox="1"/>
          <p:nvPr/>
        </p:nvSpPr>
        <p:spPr>
          <a:xfrm>
            <a:off x="328886" y="6087911"/>
            <a:ext cx="616974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Reference and Base Paper:</a:t>
            </a:r>
          </a:p>
          <a:p>
            <a:r>
              <a:rPr lang="en-IN" sz="1400" b="1" dirty="0"/>
              <a:t>Wu et. Al., Modelling Quantum Materials Geometry for Fractional Chern Insulators with Unsupervised Learning, </a:t>
            </a:r>
            <a:r>
              <a:rPr lang="en-IN" sz="1400" b="1" dirty="0" err="1"/>
              <a:t>npj</a:t>
            </a:r>
            <a:r>
              <a:rPr lang="en-IN" sz="1400" b="1" dirty="0"/>
              <a:t> Computational Materials (2026)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93976" y="191647"/>
            <a:ext cx="111556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dirty="0">
                <a:solidFill>
                  <a:srgbClr val="142337"/>
                </a:solidFill>
                <a:latin typeface="Aptos"/>
              </a:rPr>
              <a:t>Extension to real JARVIS–DFT / </a:t>
            </a:r>
            <a:r>
              <a:rPr sz="2600" b="1" dirty="0" err="1">
                <a:solidFill>
                  <a:srgbClr val="142337"/>
                </a:solidFill>
                <a:latin typeface="Aptos"/>
              </a:rPr>
              <a:t>Wannier</a:t>
            </a:r>
            <a:r>
              <a:rPr sz="2600" b="1" dirty="0">
                <a:solidFill>
                  <a:srgbClr val="142337"/>
                </a:solidFill>
                <a:latin typeface="Aptos"/>
              </a:rPr>
              <a:t> Hamiltonians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53991" y="685423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7414B"/>
                </a:solidFill>
                <a:latin typeface="Aptos"/>
              </a:rPr>
              <a:t>The two-band Bloch vector is replaced by a gauge-invariant occupied-band projector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4904" y="1078992"/>
            <a:ext cx="5440680" cy="5650992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2025396" y="1316736"/>
            <a:ext cx="1920240" cy="310896"/>
          </a:xfrm>
          <a:prstGeom prst="roundRect">
            <a:avLst/>
          </a:prstGeom>
          <a:solidFill>
            <a:srgbClr val="142337"/>
          </a:solidFill>
          <a:ln w="12700">
            <a:solidFill>
              <a:srgbClr val="14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025396" y="1355453"/>
            <a:ext cx="1828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19" b="1" dirty="0">
                <a:solidFill>
                  <a:srgbClr val="FFFFFF"/>
                </a:solidFill>
                <a:latin typeface="Aptos"/>
              </a:rPr>
              <a:t>MULTI-BAND THEORY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700784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dirty="0">
                <a:solidFill>
                  <a:srgbClr val="142337"/>
                </a:solidFill>
                <a:latin typeface="Aptos"/>
              </a:rPr>
              <a:t>Gauge-invariant occupied subspace</a:t>
            </a:r>
          </a:p>
        </p:txBody>
      </p:sp>
      <p:pic>
        <p:nvPicPr>
          <p:cNvPr id="8" name="Picture 7" descr="eq_proj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2121408"/>
            <a:ext cx="4343400" cy="507783"/>
          </a:xfrm>
          <a:prstGeom prst="rect">
            <a:avLst/>
          </a:prstGeom>
        </p:spPr>
      </p:pic>
      <p:pic>
        <p:nvPicPr>
          <p:cNvPr id="9" name="Picture 8" descr="eq_proj_geom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2670048"/>
            <a:ext cx="4800600" cy="56123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8096" y="3355848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1">
                <a:solidFill>
                  <a:srgbClr val="2D69AA"/>
                </a:solidFill>
                <a:latin typeface="Aptos"/>
              </a:rPr>
              <a:t>Why this enables real materials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3703320"/>
            <a:ext cx="4718304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20">
                <a:solidFill>
                  <a:srgbClr val="37414B"/>
                </a:solidFill>
                <a:latin typeface="Aptos"/>
              </a:defRPr>
            </a:pPr>
            <a:r>
              <a:rPr dirty="0"/>
              <a:t>• Handles 84×84 and larger </a:t>
            </a:r>
            <a:r>
              <a:rPr dirty="0" err="1"/>
              <a:t>Wannier</a:t>
            </a:r>
            <a:r>
              <a:rPr dirty="0"/>
              <a:t> Hamiltonians</a:t>
            </a:r>
          </a:p>
          <a:p>
            <a:pPr>
              <a:spcAft>
                <a:spcPts val="400"/>
              </a:spcAft>
              <a:defRPr sz="1120">
                <a:solidFill>
                  <a:srgbClr val="37414B"/>
                </a:solidFill>
                <a:latin typeface="Aptos"/>
              </a:defRPr>
            </a:pPr>
            <a:r>
              <a:rPr dirty="0"/>
              <a:t>• No two-band d-vector assumption</a:t>
            </a:r>
          </a:p>
          <a:p>
            <a:pPr>
              <a:spcAft>
                <a:spcPts val="400"/>
              </a:spcAft>
              <a:defRPr sz="1120">
                <a:solidFill>
                  <a:srgbClr val="37414B"/>
                </a:solidFill>
                <a:latin typeface="Aptos"/>
              </a:defRPr>
            </a:pPr>
            <a:r>
              <a:rPr dirty="0"/>
              <a:t>• QGT is defined from the occupied subspace</a:t>
            </a:r>
          </a:p>
          <a:p>
            <a:pPr>
              <a:spcAft>
                <a:spcPts val="400"/>
              </a:spcAft>
              <a:defRPr sz="1120">
                <a:solidFill>
                  <a:srgbClr val="37414B"/>
                </a:solidFill>
                <a:latin typeface="Aptos"/>
              </a:defRPr>
            </a:pPr>
            <a:r>
              <a:rPr dirty="0"/>
              <a:t>• Provides a common representation across materials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4713732"/>
            <a:ext cx="443484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80" b="1" dirty="0">
                <a:solidFill>
                  <a:srgbClr val="142337"/>
                </a:solidFill>
                <a:latin typeface="Aptos"/>
              </a:rPr>
              <a:t>Objective: learn QGT maps and recover topology from H(k).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078992"/>
            <a:ext cx="5504688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909560" y="1261872"/>
            <a:ext cx="1874519" cy="310896"/>
          </a:xfrm>
          <a:prstGeom prst="roundRect">
            <a:avLst/>
          </a:prstGeom>
          <a:solidFill>
            <a:srgbClr val="142337"/>
          </a:solidFill>
          <a:ln w="12700">
            <a:solidFill>
              <a:srgbClr val="14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78140" y="1288927"/>
            <a:ext cx="1783079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Aptos"/>
              </a:rPr>
              <a:t>JARVIS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1024" y="1691640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dirty="0">
                <a:solidFill>
                  <a:srgbClr val="142337"/>
                </a:solidFill>
                <a:latin typeface="Aptos"/>
              </a:rPr>
              <a:t>Data → k-space sampling → ML → material-level test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10528" y="2212848"/>
            <a:ext cx="4709160" cy="56692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20256" y="2295144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142337"/>
                </a:solidFill>
                <a:latin typeface="Aptos"/>
              </a:rPr>
              <a:t>JARVIS-DFT / Wannier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59952" y="2295144"/>
            <a:ext cx="230428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69" b="0">
                <a:solidFill>
                  <a:srgbClr val="37414B"/>
                </a:solidFill>
                <a:latin typeface="Aptos"/>
              </a:rPr>
              <a:t>H(k), E_F, atoms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869680" y="2779776"/>
            <a:ext cx="0" cy="164592"/>
          </a:xfrm>
          <a:prstGeom prst="line">
            <a:avLst/>
          </a:prstGeom>
          <a:ln w="20320">
            <a:solidFill>
              <a:srgbClr val="288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510528" y="3008376"/>
            <a:ext cx="4709160" cy="56692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20256" y="3090672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142337"/>
                </a:solidFill>
                <a:latin typeface="Aptos"/>
              </a:rPr>
              <a:t>Uniform k-mesh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59952" y="3090672"/>
            <a:ext cx="230428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69" b="0">
                <a:solidFill>
                  <a:srgbClr val="37414B"/>
                </a:solidFill>
                <a:latin typeface="Aptos"/>
              </a:rPr>
              <a:t>H(k) on N×N grid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869680" y="3575304"/>
            <a:ext cx="0" cy="164592"/>
          </a:xfrm>
          <a:prstGeom prst="line">
            <a:avLst/>
          </a:prstGeom>
          <a:ln w="20320">
            <a:solidFill>
              <a:srgbClr val="288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510528" y="3803904"/>
            <a:ext cx="4709160" cy="56692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20256" y="3886200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142337"/>
                </a:solidFill>
                <a:latin typeface="Aptos"/>
              </a:rPr>
              <a:t>Occupied projector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59952" y="3886200"/>
            <a:ext cx="230428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69" b="0">
                <a:solidFill>
                  <a:srgbClr val="37414B"/>
                </a:solidFill>
                <a:latin typeface="Aptos"/>
              </a:rPr>
              <a:t>P(k)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869680" y="4370832"/>
            <a:ext cx="0" cy="164592"/>
          </a:xfrm>
          <a:prstGeom prst="line">
            <a:avLst/>
          </a:prstGeom>
          <a:ln w="20320">
            <a:solidFill>
              <a:srgbClr val="288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510528" y="4599432"/>
            <a:ext cx="4709160" cy="56692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20256" y="4681728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142337"/>
                </a:solidFill>
                <a:latin typeface="Aptos"/>
              </a:rPr>
              <a:t>Physics-informed U-Net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59952" y="4681728"/>
            <a:ext cx="230428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69" b="0">
                <a:solidFill>
                  <a:srgbClr val="37414B"/>
                </a:solidFill>
                <a:latin typeface="Aptos"/>
              </a:rPr>
              <a:t>QGT + topology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869680" y="5166360"/>
            <a:ext cx="0" cy="164592"/>
          </a:xfrm>
          <a:prstGeom prst="line">
            <a:avLst/>
          </a:prstGeom>
          <a:ln w="20320">
            <a:solidFill>
              <a:srgbClr val="288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510528" y="5394960"/>
            <a:ext cx="4709160" cy="56692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20256" y="5477256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142337"/>
                </a:solidFill>
                <a:latin typeface="Aptos"/>
              </a:rPr>
              <a:t>Unseen material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59952" y="5477256"/>
            <a:ext cx="230428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69" b="0">
                <a:solidFill>
                  <a:srgbClr val="37414B"/>
                </a:solidFill>
                <a:latin typeface="Aptos"/>
              </a:rPr>
              <a:t>gap, C / Z₂, errors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5995070"/>
            <a:ext cx="4709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 dirty="0">
                <a:solidFill>
                  <a:srgbClr val="2D69AA"/>
                </a:solidFill>
                <a:latin typeface="Aptos"/>
              </a:rPr>
              <a:t>REPORTING METRICS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6203120"/>
            <a:ext cx="4709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dirty="0">
                <a:solidFill>
                  <a:srgbClr val="37414B"/>
                </a:solidFill>
                <a:latin typeface="Aptos"/>
              </a:rPr>
              <a:t>QGT MAE  •  Ω MAE  •  Chern error  •  Z₂ accuracy  •  gap-conditioned generalization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" y="6565392"/>
            <a:ext cx="11064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78828C"/>
                </a:solidFill>
                <a:latin typeface="Aptos"/>
              </a:rPr>
              <a:t>Physics-informed ML proposal  |  Quantum geometry  |  Topological materials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C0B41E3-84A1-2FCE-FC85-000E91AA58A7}"/>
              </a:ext>
            </a:extLst>
          </p:cNvPr>
          <p:cNvSpPr txBox="1"/>
          <p:nvPr/>
        </p:nvSpPr>
        <p:spPr>
          <a:xfrm>
            <a:off x="786384" y="5106924"/>
            <a:ext cx="4370832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Timeline: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14-15</a:t>
            </a:r>
            <a:r>
              <a:rPr lang="en-IN" sz="1400" baseline="30000" dirty="0"/>
              <a:t>th</a:t>
            </a:r>
            <a:r>
              <a:rPr lang="en-IN" sz="1400" dirty="0"/>
              <a:t> Sept: Extension to Qi Wu Zhang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26-27</a:t>
            </a:r>
            <a:r>
              <a:rPr lang="en-IN" sz="1400" baseline="30000" dirty="0"/>
              <a:t>th</a:t>
            </a:r>
            <a:r>
              <a:rPr lang="en-IN" sz="1400" dirty="0"/>
              <a:t> Oct: Extension to BHZ Model with time reversal symmetry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16-17</a:t>
            </a:r>
            <a:r>
              <a:rPr lang="en-IN" sz="1400" baseline="30000" dirty="0"/>
              <a:t>th</a:t>
            </a:r>
            <a:r>
              <a:rPr lang="en-IN" sz="1400" dirty="0"/>
              <a:t> Nov. : Final Presentation on Real Data of Wannier Orbitals from JARVIS DFT Database.</a:t>
            </a:r>
          </a:p>
          <a:p>
            <a:endParaRPr lang="en-IN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532</Words>
  <Application>Microsoft Office PowerPoint</Application>
  <PresentationFormat>Widescreen</PresentationFormat>
  <Paragraphs>80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-apple-system</vt:lpstr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Ranjit Saha</dc:creator>
  <cp:keywords/>
  <dc:description>generated using python-pptx</dc:description>
  <cp:lastModifiedBy>Ranjit Saha</cp:lastModifiedBy>
  <cp:revision>6</cp:revision>
  <dcterms:created xsi:type="dcterms:W3CDTF">2013-01-27T09:14:16Z</dcterms:created>
  <dcterms:modified xsi:type="dcterms:W3CDTF">2026-09-03T19:39:54Z</dcterms:modified>
  <cp:category/>
</cp:coreProperties>
</file>